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슬라이드. 수업 시작 전 잠깐 띄워놓고 학생들이 입장하도록 합니다.
강의자: 임상준 교수 / SW중심대학사업단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수업 구성을 한눈에 보여주는 목차입니다.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편성 시 각 팀에 3개 직무 그룹이 최소 1명씩 포함되도록 구성합니다. 동일 기업 인턴십 대상자는 가급적 다른 팀으로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이상 기업(6개) 소속 학생들을 팀장 후보로 고려. 신규 투입 인원 50% 이상임을 감안하여 기존 수강자가 멘토 역할을 자연스럽게 맡도록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서버는 이미 Ubuntu로 구성되어 있으므로 팀 계정만 추가하면 됩니다. bash 스크립트는 Word 운영가이드에 수록되어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서버 공유 사용에 대한 에티켓을 첫 수업에서 명확히 안내하세요. 특히 야간 예약제 규칙은 처음부터 문화로 정착시키는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이론은 '왜(Why)' 중심으로 15~25분만 진행. 슬라이드 없이 화이트보드나 현업 사례 이야기로 진행하면 더 효과적입니다.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마일스톤을 교실 앞에 크게 붙여놓으면 학생들이 시각적으로 진도를 인지합니다. 중간 데모(7/6)는 MVP 즉석 투표로 분위기를 올리세요.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학생들에게 이 슬라이드를 보여주면서 각 팀이 스스로 체크리스트를 작성하게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예시는 참고용입니다. 학생들이 자신의 인턴십 기업과 연결된 주제를 자유롭게 기획하는 것이 가장 좋습니다. GPU가 있으므로 AI 주제를 적극 장려하세요.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5단계를 수업 시간에 팀별 워크시트로 제공하면 효과적입니다. Word 운영가이드의 기획서 템플릿과 연계하세요.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피칭은 슬라이드 없이 자유 형식으로 진행합니다. 3분을 넘으면 즉시 컷. 이 긴장감이 좋은 훈련이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8개 부문으로 모든 팀이 최소 1개 수상 기회를 갖도록 설계했습니다. 상장은 7/14에 미리 출력 준비하세요.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평가와 개인 평가를 분리함으로써 무임승차를 방지합니다. 동료 평가는 익명으로 진행하며 비율은 5%로 제한하여 부담을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'실제로 동작하는 무언가를 만들자'는 메시지로 학생들의 동기를 부여합니다.
강의자: 임상준 교수 / SW중심대학사업단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계절학기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어플리케이션 설계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운영 계획 및 학생 가이드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4114800" cy="960120"/>
          </a:xfrm>
          <a:prstGeom prst="roundRect">
            <a:avLst>
              <a:gd name="adj" fmla="val 9524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95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163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임상준 교수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SW중심대학사업단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285292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87121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305409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22 ~ 7. 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852928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87121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수강인원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95160" y="305409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23명 · 15기업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3328416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34670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35295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이론20 + 실습80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3328416"/>
            <a:ext cx="1874520" cy="420624"/>
          </a:xfrm>
          <a:prstGeom prst="roundRect">
            <a:avLst>
              <a:gd name="adj" fmla="val 17391"/>
            </a:avLst>
          </a:prstGeom>
          <a:solidFill>
            <a:srgbClr val="065A82">
              <a:alpha val="6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3346704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352958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(Ubuntu)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 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 &amp; 직무 그룹핑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371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서버 계정 설정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697480"/>
            <a:ext cx="548640" cy="548640"/>
          </a:xfrm>
          <a:prstGeom prst="ellips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51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운영 방식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2697480"/>
            <a:ext cx="548640" cy="548640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651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주제 설정 가이드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977640"/>
            <a:ext cx="548640" cy="54864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해커톤 운영 &amp; 마일스톤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397764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3931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시상 계획 &amp; 평가 기준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구성 &amp; 직무 그룹핑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23명 · 15개 기업 · 3개 직무 그룹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1371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 그룹별 역할 &amp; 기술 스택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8FB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엔지니어링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· 서버 구성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87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· Docker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14553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455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· 모니터링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15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&amp; 배포 담당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73552" y="100584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8FB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1005840"/>
            <a:ext cx="265176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개발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10712" y="18288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PHP · MariaDB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0712" y="248716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2487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JS · API 개발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10712" y="314553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1455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풀스택 구현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10712" y="38404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28090">
              <a:alpha val="15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개발 담당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9904" y="100584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8FBFF"/>
          </a:solidFill>
          <a:ln w="19050">
            <a:solidFill>
              <a:srgbClr val="553C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005840"/>
            <a:ext cx="2651760" cy="685800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개발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7064" y="18288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GPU 학습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27064" y="248716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248716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추론 서버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27064" y="314553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314553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27064" y="38404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553C9A">
              <a:alpha val="15000"/>
            </a:srgbClr>
          </a:solidFill>
          <a:ln w="6350">
            <a:solidFill>
              <a:srgbClr val="553C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기능 &amp; 분석 담당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편성 원칙 &amp; 구성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편성 원칙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4~5팀 구성 (팀당 4~6명)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3042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팀에 3개 직무 최소 1명씩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94436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916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기업 → 다른 팀 배치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55701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57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529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3인 이상 기업 → 팀장 우선 후보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16966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1422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수강자 + 신규 인원 혼합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105156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8F0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51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현황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0640" y="169164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6479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참여 기업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176479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15개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120640" y="2496312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56946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3인 이상 기업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256946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120640" y="3300984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37413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1~2인 기업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337413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120640" y="4105656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41788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학생 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417880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23명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서버 계정 설정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기존 서버 활용 · 팀/개인 계정 이중 체계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체계 &amp; 디렉토리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01168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계정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· 전체 관리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20116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공유 계정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team_a ~ team_e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디렉토리 RW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51560"/>
            <a:ext cx="20116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계정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s2025001 ~ 023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디렉토리만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2767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51560"/>
            <a:ext cx="2011680" cy="38404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공용 읽기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/shared/datasets/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전원 읽기 전용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8503920" cy="2286000"/>
          </a:xfrm>
          <a:prstGeom prst="roundRect">
            <a:avLst>
              <a:gd name="adj" fmla="val 4800"/>
            </a:avLst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디렉토리 구조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063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/home/team_a/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project/    ← 소스코드 (Git 연동)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← 팀 전용 데이터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     ← 학습 모델 저장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logs/       ← 실행 로그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쿼터 운영 규칙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팀당 GPU 1~2개 기본 할당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990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CUDA_VISIBLE_DEVICES 환경변수로 팀별 GPU 지정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3852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892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예약제 운영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학습 등 장시간 작업은 Notion 예약 시트로 사전 신청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34056"/>
            <a:ext cx="475488" cy="475488"/>
          </a:xfrm>
          <a:prstGeom prst="ellips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시간 중 GPU 집약 작업 자제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90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CPU로 개발 → 야간 GPU 학습 패턴 권장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29584"/>
            <a:ext cx="475488" cy="475488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48386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팀 프로세스 종료 금지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856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위반 시 계정 일시 정지 조치 적용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25112"/>
            <a:ext cx="475488" cy="475488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2793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1회 프로세스 점검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58114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목요일 교수가 잔여 프로세스 정리 및 확인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운영 방식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20% + 실습·프로젝트 80% · 해커톤 방식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4114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회차별 시간 배분 (2시간 기준)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AFAFA"/>
          </a:solidFill>
          <a:ln w="19050">
            <a:solidFill>
              <a:srgbClr val="1F386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 미니강의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실사례·현업 중심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슬라이드 없이 진행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AFA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0584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실습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작업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교수 순회 지도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AFAFA"/>
          </a:solidFill>
          <a:ln w="19050">
            <a:solidFill>
              <a:srgbClr val="B45F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공유·피드백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6459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진도 공유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피어 코드 리뷰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35808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0D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07608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0D0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해커톤 마일스톤 &amp; 일정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7589520" cy="0"/>
          </a:xfrm>
          <a:prstGeom prst="line">
            <a:avLst/>
          </a:prstGeom>
          <a:noFill/>
          <a:ln w="25400">
            <a:solidFill>
              <a:srgbClr val="D0D0D0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028090">
              <a:alpha val="12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피칭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발표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04872" y="2103120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6272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67712" y="105156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12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완료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67712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UML·ERD 제출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6824" y="2103120"/>
            <a:ext cx="530352" cy="530352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6824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78224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7/06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9664" y="105156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553C9A">
              <a:alpha val="12000"/>
            </a:srgbClr>
          </a:solidFill>
          <a:ln w="6350">
            <a:solidFill>
              <a:srgbClr val="553C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데모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9664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투표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2103120"/>
            <a:ext cx="530352" cy="530352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0176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7/13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71616" y="105156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C05621">
              <a:alpha val="12000"/>
            </a:srgbClr>
          </a:solidFill>
          <a:ln w="6350">
            <a:solidFill>
              <a:srgbClr val="C05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71616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프리즈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71616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최종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10728" y="2103120"/>
            <a:ext cx="530352" cy="530352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0728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82128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7/15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73568" y="105156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B45F06">
              <a:alpha val="12000"/>
            </a:srgbClr>
          </a:solidFill>
          <a:ln w="6350">
            <a:solidFill>
              <a:srgbClr val="B45F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73568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데모데이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73568" y="1508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발표+시상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291840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FFF4"/>
          </a:solidFill>
          <a:ln w="10160">
            <a:solidFill>
              <a:srgbClr val="2767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37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해커톤 분위기 장치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3749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팀 포스터 자리 부착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54880" y="3749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Notion 칸반 보드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4206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중간 데모 피어 투표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4206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데모데이 기업 담당자 초청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주제 설정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학생이 스스로 고민하고 방향을 잡을 수 있도록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54864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선정 전 스스로 물어볼 3가지 질문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1371600" cy="1371600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65A82">
              <a:alpha val="1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인턴십 기업에서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쓸 수 있는가?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49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 연결성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005840"/>
            <a:ext cx="1371600" cy="1371600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37560" y="2514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5603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안에 동작하는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무언가가 완성되는가?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11880" y="3749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749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 가능성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1371600" cy="1371600"/>
          </a:xfrm>
          <a:prstGeom prst="ellipse">
            <a:avLst/>
          </a:prstGeom>
          <a:solidFill>
            <a:srgbClr val="553C9A">
              <a:alpha val="85000"/>
            </a:srgbClr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217920" y="2514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553C9A">
              <a:alpha val="10000"/>
            </a:srgbClr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603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모두에게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역할이 있는가?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374904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7490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구조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42976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질문 모두 YES → 좋은 주제!   하나라도 NO → 범위 조정이 필요합니다.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직무 그룹별 프로젝트 주제 예시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AFAFA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엔지니어링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자원 모니터링 대시보드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91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자동화 파이프라인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1810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수집·이상 탐지 시스템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7705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업무 자동화 봇 (슬랙)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AFAFA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6517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058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개발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16002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6002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인턴십 일지 협업 관리 시스템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359152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3591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자산 대여 관리 시스템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3118104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1810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접수·예약 웹 서비스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877056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87705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프로젝트 쇼케이스 사이트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AFAFA"/>
          </a:solidFill>
          <a:ln w="15240">
            <a:solidFill>
              <a:srgbClr val="553C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1005840"/>
            <a:ext cx="2651760" cy="475488"/>
          </a:xfrm>
          <a:prstGeom prst="rect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0058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160020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60020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문서 Q&amp;A 챗봇 (RAG)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359152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3591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감성 분석 시각화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118104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11810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불량품 이미지 검출 시스템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3877056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87705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채용 공고 트렌드 분석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구체화 5단계 워크플로우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88720"/>
            <a:ext cx="713232" cy="71323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이해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인턴십 기업의 주요 업무·비효율 파악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38528" y="2606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84832" y="109728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188720"/>
            <a:ext cx="713232" cy="7132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4832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76272" y="25146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해결할 문제를 한 문장으로 작성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03904" y="109728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5240">
            <a:solidFill>
              <a:srgbClr val="2767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5384" y="1188720"/>
            <a:ext cx="713232" cy="713232"/>
          </a:xfrm>
          <a:prstGeom prst="ellips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03904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정의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95344" y="25146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타겟·규모·필요 기능 3가지 도출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6672" y="2606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22976" y="109728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5240">
            <a:solidFill>
              <a:srgbClr val="553C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34456" y="1188720"/>
            <a:ext cx="713232" cy="713232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22976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범위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14416" y="25146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/ Should / Won't Have 분리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95744" y="2606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42048" y="1097280"/>
            <a:ext cx="1554480" cy="3566160"/>
          </a:xfrm>
          <a:prstGeom prst="roundRect">
            <a:avLst>
              <a:gd name="adj" fmla="val 5882"/>
            </a:avLst>
          </a:prstGeom>
          <a:solidFill>
            <a:srgbClr val="FAFAFA"/>
          </a:solidFill>
          <a:ln w="15240">
            <a:solidFill>
              <a:srgbClr val="C0562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53528" y="1188720"/>
            <a:ext cx="713232" cy="713232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42048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인턴십 연결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33488" y="251460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프로젝트가 채용에 어떻게 연결되나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해커톤·부트캠프 운영 계획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피칭 포맷 · 스탠드업 · 코드 리뷰 문화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6858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주제 피칭 발표 포맷 (3분 룰)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피칭 구조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550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문제를 해결하는가?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7315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2951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사용하는가?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7315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93522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3가지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7315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753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팀이 할 수 있는 이유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7315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6052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42153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인턴십 기업과 연결고리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100584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3E0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10058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스탠드업 (5분)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15727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어제 무엇을 했는가?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19568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오늘 무엇을 할 것인가?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234086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막히는 것(블로커)이 있는가?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0" y="306324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EDE7F6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0632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 문화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0" y="36301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GitHub PR → 팀원 1인 approve 후 merge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0" y="401421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7/10(목) 팀 간 교차 리뷰 세션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97680" y="439826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리뷰 코멘트: 지적 전에 '왜'를 먼저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91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</a:rPr>
              <a:t>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시상 계획 &amp; 평가 기준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데모데이(7/15) 시상 + 팀70% / 개인30% 평가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8229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시상 부문 (데모데이 7/15)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B45F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143000"/>
            <a:ext cx="914400" cy="91440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1214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최우수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완성도 최고 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4A556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1143000"/>
            <a:ext cx="914400" cy="914400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1214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2위 수준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0058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553C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1143000"/>
            <a:ext cx="914400" cy="914400"/>
          </a:xfrm>
          <a:prstGeom prst="ellipse">
            <a:avLst/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21214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GPU·AI 창의적 활용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0058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0" y="11430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212140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UI·경험 완성도 최고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15468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" y="41330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4553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품질·아키텍처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27674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17520" y="3154680"/>
            <a:ext cx="914400" cy="914400"/>
          </a:xfrm>
          <a:prstGeom prst="ellipse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68880" y="41330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팀워크상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4553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협업·기여 균형 우수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C0562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66360" y="3154680"/>
            <a:ext cx="914400" cy="91440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17720" y="41330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(중간 데모)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17720" y="4553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7/6 피어 투표 1위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66560" y="30175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524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0" y="3154680"/>
            <a:ext cx="914400" cy="9144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66560" y="41330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챌린지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극복상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766560" y="4553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어려운 문제 해결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 (팀 70% + 개인 30%)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0F9FB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평가  70%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완성도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69164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6916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5856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산출물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30428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3042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496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712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&amp; 데모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34640" y="2916936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291693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438144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838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협업 기록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34640" y="352958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5295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050792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9651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중간 데모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834640" y="4142232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41422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8F0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058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평가  30%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1600200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64592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회고 보고서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0" y="169164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16916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46320" y="2212848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25856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수업 참여도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230428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3042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46320" y="2825496"/>
            <a:ext cx="3749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871216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동료 평가 (익명)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200" y="2916936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553C9A"/>
          </a:solidFill>
          <a:ln w="12700">
            <a:solidFill>
              <a:srgbClr val="553C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91693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32918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37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기한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37760" y="3703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산출물: 7/1(화) 수업 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최종 커밋: 7/13(일)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회고 보고서: 7/15(화) 자정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6/22 ~ 7/15  ·  4주  ·  23명  ·  데모데이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005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426110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임상준 교수  |  SW중심대학사업단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5537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개발·아키텍처·DB 전문가 35년  ·  IT기업 CEO/CTO 20년  ·  대학 강의 20년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계절학기 어플리케이션 설계 강의</dc:title>
  <dc:subject>PptxGenJS Presentation</dc:subject>
  <dc:creator>PptxGenJS</dc:creator>
  <cp:lastModifiedBy>PptxGenJS</cp:lastModifiedBy>
  <cp:revision>1</cp:revision>
  <dcterms:created xsi:type="dcterms:W3CDTF">2026-06-17T02:57:57Z</dcterms:created>
  <dcterms:modified xsi:type="dcterms:W3CDTF">2026-06-17T02:57:58Z</dcterms:modified>
</cp:coreProperties>
</file>